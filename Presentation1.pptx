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5" r:id="rId4"/>
    <p:sldId id="258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89828"/>
  </p:normalViewPr>
  <p:slideViewPr>
    <p:cSldViewPr snapToGrid="0">
      <p:cViewPr>
        <p:scale>
          <a:sx n="120" d="100"/>
          <a:sy n="120" d="100"/>
        </p:scale>
        <p:origin x="160" y="14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81FB8-F8A0-1F43-8FF2-7EFD9453615E}" type="datetimeFigureOut">
              <a:rPr lang="en-DE" smtClean="0"/>
              <a:t>18.12.25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B3404-B84A-924D-A826-008479B3BA8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2900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92F648-0B89-D8EA-4547-A49EDB3F83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GB" b="1" i="1" dirty="0"/>
              <a:t>AI vs Human Writing: A Linguistic Feature Comparison Using CYMO</a:t>
            </a:r>
          </a:p>
          <a:p>
            <a:pPr algn="ctr"/>
            <a:r>
              <a:rPr lang="en-GB" b="1" i="1" dirty="0"/>
              <a:t>Maryam Sattari – Digital Humanities WS25</a:t>
            </a:r>
            <a:endParaRPr lang="en-DE" b="1" i="1" dirty="0"/>
          </a:p>
        </p:txBody>
      </p:sp>
    </p:spTree>
    <p:extLst>
      <p:ext uri="{BB962C8B-B14F-4D97-AF65-F5344CB8AC3E}">
        <p14:creationId xmlns:p14="http://schemas.microsoft.com/office/powerpoint/2010/main" val="740254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5300E-F527-ED3C-7CEA-D63DC0EA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Research Question</a:t>
            </a:r>
            <a:endParaRPr lang="en-DE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8CE42-49D4-3236-01FB-2E000EBF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242" y="1346670"/>
            <a:ext cx="7796540" cy="4382138"/>
          </a:xfrm>
        </p:spPr>
        <p:txBody>
          <a:bodyPr/>
          <a:lstStyle/>
          <a:p>
            <a:r>
              <a:rPr lang="en-GB" b="1" dirty="0"/>
              <a:t>Do AI-generated texts differ from human-written texts in syntactic complexity and lexical diversity?</a:t>
            </a:r>
          </a:p>
          <a:p>
            <a:r>
              <a:rPr lang="en-GB" b="1" dirty="0"/>
              <a:t>Hypothesis:</a:t>
            </a:r>
          </a:p>
          <a:p>
            <a:r>
              <a:rPr lang="en-GB" dirty="0"/>
              <a:t>AI texts show lower variation in syntax</a:t>
            </a:r>
          </a:p>
          <a:p>
            <a:r>
              <a:rPr lang="en-GB" dirty="0"/>
              <a:t>Human texts show greater lexical diversity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1228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31DB-FFF2-B394-C47A-D7FF4AA3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Human vs AI-Generated A– Key Studies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21BD-507E-DF97-2A81-EA61F960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358" y="1456660"/>
            <a:ext cx="9941442" cy="54013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500" dirty="0"/>
              <a:t>•Kumar &amp; </a:t>
            </a:r>
            <a:r>
              <a:rPr lang="en-GB" sz="1500" dirty="0" err="1"/>
              <a:t>Mindzak</a:t>
            </a:r>
            <a:r>
              <a:rPr lang="en-GB" sz="1500" dirty="0"/>
              <a:t> (2022):</a:t>
            </a:r>
          </a:p>
          <a:p>
            <a:r>
              <a:rPr lang="en-GB" sz="1500" dirty="0"/>
              <a:t>Human readers struggle to reliably distinguish AI-generated texts from human writing, indicating blurred authorship boundaries.</a:t>
            </a:r>
          </a:p>
          <a:p>
            <a:r>
              <a:rPr lang="en-GB" sz="1500" dirty="0"/>
              <a:t>Gao et al. (2023):</a:t>
            </a:r>
          </a:p>
          <a:p>
            <a:r>
              <a:rPr lang="en-GB" sz="1500" dirty="0"/>
              <a:t>AI-text detection tools are unreliable, with high false-positive rates on human-written academic texts.</a:t>
            </a:r>
          </a:p>
          <a:p>
            <a:r>
              <a:rPr lang="en-GB" sz="1500" b="1" i="1" dirty="0"/>
              <a:t>Biber, Gray &amp; Staples (2020):</a:t>
            </a:r>
          </a:p>
          <a:p>
            <a:r>
              <a:rPr lang="en-GB" sz="1500" dirty="0"/>
              <a:t>Human academic writing shows higher syntactic and discourse complexity than AI-generated text.</a:t>
            </a:r>
          </a:p>
          <a:p>
            <a:r>
              <a:rPr lang="en-GB" sz="1500" b="1" i="1" dirty="0"/>
              <a:t>Liang et al. (2023):</a:t>
            </a:r>
          </a:p>
          <a:p>
            <a:r>
              <a:rPr lang="en-GB" sz="1500" dirty="0"/>
              <a:t>ChatGPT texts lack specificity, analytical depth, and citation accuracy compared to human essays.</a:t>
            </a:r>
          </a:p>
          <a:p>
            <a:r>
              <a:rPr lang="en-GB" sz="1500" b="1" i="1" dirty="0"/>
              <a:t>Grimaldi et al. (2024):</a:t>
            </a:r>
          </a:p>
          <a:p>
            <a:r>
              <a:rPr lang="en-GB" sz="1500" dirty="0"/>
              <a:t>AI can meet formal academic conventions but fails to fully reproduce authorial voice and stance.</a:t>
            </a:r>
            <a:endParaRPr lang="en-DE" sz="1500" dirty="0"/>
          </a:p>
        </p:txBody>
      </p:sp>
    </p:spTree>
    <p:extLst>
      <p:ext uri="{BB962C8B-B14F-4D97-AF65-F5344CB8AC3E}">
        <p14:creationId xmlns:p14="http://schemas.microsoft.com/office/powerpoint/2010/main" val="215616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1DE8-96C4-A6BE-C171-76EB6286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Dataset: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60684-42B4-F42F-60CE-A3654CF2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Groups:</a:t>
            </a:r>
          </a:p>
          <a:p>
            <a:r>
              <a:rPr lang="en-GB" dirty="0"/>
              <a:t>30 Human texts (EFCAMDAT – topic: “Describing a business trip”)</a:t>
            </a:r>
          </a:p>
          <a:p>
            <a:r>
              <a:rPr lang="en-GB" dirty="0"/>
              <a:t>30 AI-generated texts (ChatGPT with the same topic)</a:t>
            </a:r>
          </a:p>
          <a:p>
            <a:pPr marL="0" indent="0">
              <a:buNone/>
            </a:pPr>
            <a:r>
              <a:rPr lang="en-GB" b="1" dirty="0"/>
              <a:t>Key properties:</a:t>
            </a:r>
          </a:p>
          <a:p>
            <a:r>
              <a:rPr lang="en-GB" dirty="0"/>
              <a:t>CEFR Level: B1</a:t>
            </a:r>
          </a:p>
          <a:p>
            <a:r>
              <a:rPr lang="en-GB" dirty="0"/>
              <a:t>Selected B1 texts from EFCAMDAT.</a:t>
            </a:r>
          </a:p>
          <a:p>
            <a:r>
              <a:rPr lang="en-GB" dirty="0"/>
              <a:t>B1 provides enough linguistic complexity for</a:t>
            </a:r>
          </a:p>
          <a:p>
            <a:r>
              <a:rPr lang="en-GB" dirty="0"/>
              <a:t>Similar length range ( around 120 words each text)</a:t>
            </a:r>
          </a:p>
          <a:p>
            <a:r>
              <a:rPr lang="en-GB" dirty="0"/>
              <a:t>Balanced dataset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8686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10B1-EF75-D30F-4230-066038DD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DE" dirty="0"/>
              <a:t>Prompt: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B5AC8-89B9-63B8-07AE-93684FDD4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860" y="1516857"/>
            <a:ext cx="8291573" cy="4828187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Please generate 30 short texts written at CEFR B1 level.</a:t>
            </a:r>
          </a:p>
          <a:p>
            <a:r>
              <a:rPr lang="en-GB" dirty="0"/>
              <a:t>Each text should be approximately 120–180 words long (similar in length to typical learner emails in the EF-CAMDAT corpus).</a:t>
            </a:r>
          </a:p>
          <a:p>
            <a:r>
              <a:rPr lang="en-GB" dirty="0"/>
              <a:t>All texts must follow the same topic: Describing a business trip.</a:t>
            </a:r>
          </a:p>
          <a:p>
            <a:r>
              <a:rPr lang="en-GB" dirty="0"/>
              <a:t>Each text should sound like it was written by an intermediate English learner writing an email or short message about a work trip.</a:t>
            </a:r>
          </a:p>
          <a:p>
            <a:r>
              <a:rPr lang="en-GB" dirty="0"/>
              <a:t>The texts should include simple descriptions of:</a:t>
            </a:r>
          </a:p>
          <a:p>
            <a:r>
              <a:rPr lang="en-GB" dirty="0"/>
              <a:t>flights or travel between cities</a:t>
            </a:r>
          </a:p>
          <a:p>
            <a:r>
              <a:rPr lang="en-GB" dirty="0"/>
              <a:t>meetings or work events</a:t>
            </a:r>
          </a:p>
          <a:p>
            <a:r>
              <a:rPr lang="en-GB" dirty="0"/>
              <a:t>small problems during the trip (e.g., delays, hotel issues)</a:t>
            </a:r>
          </a:p>
          <a:p>
            <a:r>
              <a:rPr lang="en-GB" dirty="0"/>
              <a:t>feelings about the trip (e.g., tired, excited, stressed)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7249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9D35-89DA-6F76-1D79-801B0293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Features: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CEB29-BD3A-B3E1-91AF-A37AD68FB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Selected linguistic features:</a:t>
            </a:r>
          </a:p>
          <a:p>
            <a:pPr marL="0" indent="0">
              <a:buNone/>
            </a:pPr>
            <a:r>
              <a:rPr lang="en-GB" b="1" i="1" dirty="0"/>
              <a:t>Syntactic Complexity</a:t>
            </a:r>
          </a:p>
          <a:p>
            <a:r>
              <a:rPr lang="en-GB" dirty="0"/>
              <a:t>MLS (Mean Length of Sentence)</a:t>
            </a:r>
          </a:p>
          <a:p>
            <a:r>
              <a:rPr lang="en-GB" dirty="0"/>
              <a:t>MLT (Mean Length of T-unit)</a:t>
            </a:r>
          </a:p>
          <a:p>
            <a:r>
              <a:rPr lang="en-GB" dirty="0"/>
              <a:t>MLC (Mean Length of Clause)</a:t>
            </a:r>
          </a:p>
          <a:p>
            <a:pPr marL="0" indent="0">
              <a:buNone/>
            </a:pPr>
            <a:r>
              <a:rPr lang="en-GB" b="1" i="1" dirty="0"/>
              <a:t>Lexical Diversity</a:t>
            </a:r>
          </a:p>
          <a:p>
            <a:r>
              <a:rPr lang="en-GB" dirty="0"/>
              <a:t>TTR ( Type–Token Ratio)</a:t>
            </a:r>
          </a:p>
          <a:p>
            <a:r>
              <a:rPr lang="en-GB" dirty="0"/>
              <a:t>MTLD ( Measure of Textual Lexical Diversity)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7701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B12D-8D97-D664-42EB-E1753E9BE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Type of Analysis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DFA02-E058-DE2E-CDC9-B1B8853E6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Analytical methods:</a:t>
            </a:r>
          </a:p>
          <a:p>
            <a:r>
              <a:rPr lang="en-GB" dirty="0"/>
              <a:t>Descriptive statistics (mean, SD)</a:t>
            </a:r>
          </a:p>
          <a:p>
            <a:r>
              <a:rPr lang="en-GB" dirty="0"/>
              <a:t>Visual comparison (boxplots)</a:t>
            </a:r>
          </a:p>
          <a:p>
            <a:r>
              <a:rPr lang="en-GB" dirty="0"/>
              <a:t>Inferential statistics (t-tests)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i="1" dirty="0"/>
              <a:t>Software:</a:t>
            </a:r>
          </a:p>
          <a:p>
            <a:r>
              <a:rPr lang="en-GB" dirty="0"/>
              <a:t>CYMO (344 metrics → selected subset)</a:t>
            </a:r>
          </a:p>
          <a:p>
            <a:r>
              <a:rPr lang="en-GB" dirty="0"/>
              <a:t>RStudio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90968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23210</TotalTime>
  <Words>425</Words>
  <Application>Microsoft Macintosh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MS Shell Dlg 2</vt:lpstr>
      <vt:lpstr>Wingdings</vt:lpstr>
      <vt:lpstr>Wingdings 3</vt:lpstr>
      <vt:lpstr>Madison</vt:lpstr>
      <vt:lpstr>PowerPoint Presentation</vt:lpstr>
      <vt:lpstr>Research Question</vt:lpstr>
      <vt:lpstr>Human vs AI-Generated A– Key Studies</vt:lpstr>
      <vt:lpstr>Dataset:</vt:lpstr>
      <vt:lpstr>Prompt:</vt:lpstr>
      <vt:lpstr>Features:</vt:lpstr>
      <vt:lpstr>Type of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maryams@irtsquad.org</dc:creator>
  <cp:lastModifiedBy>maryams@irtsquad.org</cp:lastModifiedBy>
  <cp:revision>1</cp:revision>
  <dcterms:created xsi:type="dcterms:W3CDTF">2025-12-06T09:00:39Z</dcterms:created>
  <dcterms:modified xsi:type="dcterms:W3CDTF">2025-12-22T11:51:03Z</dcterms:modified>
</cp:coreProperties>
</file>